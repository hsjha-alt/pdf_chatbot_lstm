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QA Chatbot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Question-Answering for PDF Documents</a:t>
            </a:r>
          </a:p>
          <a:p>
            <a:r>
              <a:t>Powered by AI &amp; Semantic Search</a:t>
            </a:r>
          </a:p>
          <a:p/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📋 Agenda Overview</a:t>
            </a:r>
          </a:p>
          <a:p/>
          <a:p>
            <a:r>
              <a:t>1. Introduction &amp; Problem Statement</a:t>
            </a:r>
          </a:p>
          <a:p>
            <a:r>
              <a:t>2. Solution Overview &amp; Features</a:t>
            </a:r>
          </a:p>
          <a:p>
            <a:r>
              <a:t>3. System Architecture &amp; Technology</a:t>
            </a:r>
          </a:p>
          <a:p>
            <a:r>
              <a:t>4. User Interface &amp; Demo</a:t>
            </a:r>
          </a:p>
          <a:p>
            <a:r>
              <a:t>5. How It Works (Step-by-Step)</a:t>
            </a:r>
          </a:p>
          <a:p>
            <a:r>
              <a:t>6. Performance &amp; Results</a:t>
            </a:r>
          </a:p>
          <a:p>
            <a:r>
              <a:t>7. Use Cases &amp; Applications</a:t>
            </a:r>
          </a:p>
          <a:p>
            <a:r>
              <a:t>8. Future Roadmap</a:t>
            </a:r>
          </a:p>
          <a:p>
            <a:r>
              <a:t>9.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📄 Information Overload in PDF Documents</a:t>
            </a:r>
          </a:p>
          <a:p/>
          <a:p>
            <a:r>
              <a:t>❌ Current Problems:</a:t>
            </a:r>
          </a:p>
          <a:p>
            <a:r>
              <a:t>• Manual searching through hundreds of PDFs</a:t>
            </a:r>
          </a:p>
          <a:p>
            <a:r>
              <a:t>• Time-consuming to find specific information</a:t>
            </a:r>
          </a:p>
          <a:p>
            <a:r>
              <a:t>• Basic keyword search misses context</a:t>
            </a:r>
          </a:p>
          <a:p>
            <a:r>
              <a:t>• No understanding of question intent</a:t>
            </a:r>
          </a:p>
          <a:p>
            <a:r>
              <a:t>• Limited to exact word matching</a:t>
            </a:r>
          </a:p>
          <a:p/>
          <a:p>
            <a:r>
              <a:t>💡 Need: Intelligent, fast, and accurate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PDF QA Chatbot System</a:t>
            </a:r>
          </a:p>
          <a:p/>
          <a:p>
            <a:r>
              <a:t>🎯 What It Does:</a:t>
            </a:r>
          </a:p>
          <a:p>
            <a:r>
              <a:t>• Answers questions from your PDF documents</a:t>
            </a:r>
          </a:p>
          <a:p>
            <a:r>
              <a:t>• Understands natural language queries</a:t>
            </a:r>
          </a:p>
          <a:p>
            <a:r>
              <a:t>• Finds relevant information instantly</a:t>
            </a:r>
          </a:p>
          <a:p>
            <a:r>
              <a:t>• Works with existing PDF collections</a:t>
            </a:r>
          </a:p>
          <a:p/>
          <a:p>
            <a:r>
              <a:t>🚀 Key Benefits:</a:t>
            </a:r>
          </a:p>
          <a:p>
            <a:r>
              <a:t>• Fast processing (seconds, not minutes)</a:t>
            </a:r>
          </a:p>
          <a:p>
            <a:r>
              <a:t>• High accuracy (80-95%)</a:t>
            </a:r>
          </a:p>
          <a:p>
            <a:r>
              <a:t>• Easy to use (web interface)</a:t>
            </a:r>
          </a:p>
          <a:p>
            <a:r>
              <a:t>• Works offline (privacy-focused)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011680" cy="109728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🚀 Fast</a:t>
            </a:r>
          </a:p>
          <a:p>
            <a:pPr algn="ctr">
              <a:defRPr sz="1400"/>
            </a:pPr>
            <a:r>
              <a:t>Processes PDFs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2011680" cy="109728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🧠 Intelligent</a:t>
            </a:r>
          </a:p>
          <a:p>
            <a:pPr algn="ctr">
              <a:defRPr sz="1400"/>
            </a:pPr>
            <a:r>
              <a:t>Understands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45920"/>
            <a:ext cx="2011680" cy="109728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🔍 Hybrid Search</a:t>
            </a:r>
          </a:p>
          <a:p>
            <a:pPr algn="ctr">
              <a:defRPr sz="1400"/>
            </a:pPr>
            <a:r>
              <a:t>Semantic + Keyword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011680" cy="109728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💻 Easy to Use</a:t>
            </a:r>
          </a:p>
          <a:p>
            <a:pPr algn="ctr">
              <a:defRPr sz="1400"/>
            </a:pPr>
            <a:r>
              <a:t>Simple web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2011680" cy="109728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🔒 Private</a:t>
            </a:r>
          </a:p>
          <a:p>
            <a:pPr algn="ctr">
              <a:defRPr sz="1400"/>
            </a:pPr>
            <a:r>
              <a:t>All data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474720"/>
            <a:ext cx="2011680" cy="109728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⚡ No Training</a:t>
            </a:r>
          </a:p>
          <a:p>
            <a:pPr algn="ctr">
              <a:defRPr sz="1400"/>
            </a:pPr>
            <a:r>
              <a:t>Pre-trained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286000" cy="82296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User Interface</a:t>
            </a:r>
          </a:p>
          <a:p>
            <a:r>
              <a:t>Streamlit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03120"/>
            <a:ext cx="2286000" cy="82296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QA System</a:t>
            </a:r>
          </a:p>
          <a:p>
            <a:r>
              <a:t>Orchestration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286000" cy="82296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Core Modules</a:t>
            </a:r>
          </a:p>
          <a:p>
            <a:r>
              <a:t>Data Loader, Embedder,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108960"/>
            <a:ext cx="2286000" cy="82296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Models</a:t>
            </a:r>
          </a:p>
          <a:p>
            <a:r>
              <a:t>Sentence Transformers, 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286000" cy="82296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Data Storage</a:t>
            </a:r>
          </a:p>
          <a:p>
            <a:r>
              <a:t>Chunks, Embeddings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🛠️ Core Technologies</a:t>
            </a:r>
          </a:p>
          <a:p/>
          <a:p>
            <a:r>
              <a:t>🐍 Python 3.8+</a:t>
            </a:r>
          </a:p>
          <a:p>
            <a:r>
              <a:t>   • Primary development language</a:t>
            </a:r>
          </a:p>
          <a:p/>
          <a:p>
            <a:r>
              <a:t>🤖 AI &amp; Machine Learning</a:t>
            </a:r>
          </a:p>
          <a:p>
            <a:r>
              <a:t>   • Sentence Transformers (embeddings)</a:t>
            </a:r>
          </a:p>
          <a:p>
            <a:r>
              <a:t>   • TensorFlow/Keras (LSTM models)</a:t>
            </a:r>
          </a:p>
          <a:p/>
          <a:p>
            <a:r>
              <a:t>📄 PDF Processing</a:t>
            </a:r>
          </a:p>
          <a:p>
            <a:r>
              <a:t>   • PyMuPDF (fast text extraction)</a:t>
            </a:r>
          </a:p>
          <a:p/>
          <a:p>
            <a:r>
              <a:t>🌐 Web Framework</a:t>
            </a:r>
          </a:p>
          <a:p>
            <a:r>
              <a:t>   • Streamlit (user interface)</a:t>
            </a:r>
          </a:p>
          <a:p/>
          <a:p>
            <a:r>
              <a:t>📊 Data Science</a:t>
            </a:r>
          </a:p>
          <a:p>
            <a:r>
              <a:t>   • NumPy, scikit-learn (computations)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User Interface - Main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4114800"/>
          </a:xfrm>
          <a:prstGeom prst="rect">
            <a:avLst/>
          </a:prstGeom>
          <a:noFill/>
          <a:ln w="25400">
            <a:solidFill>
              <a:srgbClr val="2980B9"/>
            </a:solidFill>
          </a:ln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[SCREENSHOT]</a:t>
            </a:r>
          </a:p>
          <a:p/>
          <a:p>
            <a:r>
              <a:t>📸 Screenshot: Streamlit main interface</a:t>
            </a:r>
          </a:p>
          <a:p>
            <a:r>
              <a:t>• Query input box at top</a:t>
            </a:r>
          </a:p>
          <a:p>
            <a:r>
              <a:t>• Answer display area</a:t>
            </a:r>
          </a:p>
          <a:p>
            <a:r>
              <a:t>• Sidebar with system status</a:t>
            </a:r>
          </a:p>
          <a:p>
            <a:r>
              <a:t>• Clean, modern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74C3C"/>
                </a:solidFill>
              </a:defRPr>
            </a:pPr>
            <a:r>
              <a:t>💡 To capture: Run 'streamlit run app_new.py' and take screenshot of browser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User Interface - Sidebar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4114800"/>
          </a:xfrm>
          <a:prstGeom prst="rect">
            <a:avLst/>
          </a:prstGeom>
          <a:noFill/>
          <a:ln w="25400">
            <a:solidFill>
              <a:srgbClr val="2980B9"/>
            </a:solidFill>
          </a:ln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[SCREENSHOT]</a:t>
            </a:r>
          </a:p>
          <a:p/>
          <a:p>
            <a:r>
              <a:t>📸 Screenshot: Sidebar showing</a:t>
            </a:r>
          </a:p>
          <a:p>
            <a:r>
              <a:t>• System Status (✅ Ready)</a:t>
            </a:r>
          </a:p>
          <a:p>
            <a:r>
              <a:t>• Chunks count metric</a:t>
            </a:r>
          </a:p>
          <a:p>
            <a:r>
              <a:t>• Embeddings shape</a:t>
            </a:r>
          </a:p>
          <a:p>
            <a:r>
              <a:t>• PDF file list (expandable)</a:t>
            </a:r>
          </a:p>
          <a:p>
            <a:r>
              <a:t>• Top-K results slider</a:t>
            </a:r>
          </a:p>
          <a:p>
            <a:r>
              <a:t>• PDF file selector (multiselect)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User Interface - Query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Example Query: 'What is the main topic of this document?'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0"/>
          </a:xfrm>
          <a:prstGeom prst="rect">
            <a:avLst/>
          </a:prstGeom>
          <a:noFill/>
          <a:ln w="25400">
            <a:solidFill>
              <a:srgbClr val="2980B9"/>
            </a:solidFill>
          </a:ln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[SCREENSHOT]</a:t>
            </a:r>
          </a:p>
          <a:p/>
          <a:p>
            <a:r>
              <a:t>📸 Screenshot: Query results showing</a:t>
            </a:r>
          </a:p>
          <a:p>
            <a:r>
              <a:t>• Generated answer text</a:t>
            </a:r>
          </a:p>
          <a:p>
            <a:r>
              <a:t>• Retrieved chunks with content</a:t>
            </a:r>
          </a:p>
          <a:p>
            <a:r>
              <a:t>• Similarity scores (0.85, 0.82, etc.)</a:t>
            </a:r>
          </a:p>
          <a:p>
            <a:r>
              <a:t>• Source document names</a:t>
            </a:r>
          </a:p>
          <a:p>
            <a:r>
              <a:t>• Formatted output with sections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🔄 Complete Workflow</a:t>
            </a:r>
          </a:p>
          <a:p/>
          <a:p>
            <a:r>
              <a:t>Step 1: Load PDFs</a:t>
            </a:r>
          </a:p>
          <a:p>
            <a:r>
              <a:t>   → Extract text using PyMuPDF</a:t>
            </a:r>
          </a:p>
          <a:p/>
          <a:p>
            <a:r>
              <a:t>Step 2: Create Chunks</a:t>
            </a:r>
          </a:p>
          <a:p>
            <a:r>
              <a:t>   → Split text intelligently</a:t>
            </a:r>
          </a:p>
          <a:p/>
          <a:p>
            <a:r>
              <a:t>Step 3: Generate Embeddings</a:t>
            </a:r>
          </a:p>
          <a:p>
            <a:r>
              <a:t>   → Create semantic representations</a:t>
            </a:r>
          </a:p>
          <a:p/>
          <a:p>
            <a:r>
              <a:t>Step 4: Process Query</a:t>
            </a:r>
          </a:p>
          <a:p>
            <a:r>
              <a:t>   → Encode question</a:t>
            </a:r>
          </a:p>
          <a:p/>
          <a:p>
            <a:r>
              <a:t>Step 5: Search &amp; Retrieve</a:t>
            </a:r>
          </a:p>
          <a:p>
            <a:r>
              <a:t>   → Find relevant chunks</a:t>
            </a:r>
          </a:p>
          <a:p/>
          <a:p>
            <a:r>
              <a:t>Step 6: Generate Answer</a:t>
            </a:r>
          </a:p>
          <a:p>
            <a:r>
              <a:t>   → Format and display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PDF Document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📄 Document Processing Pipeline</a:t>
            </a:r>
          </a:p>
          <a:p/>
          <a:p>
            <a:r>
              <a:t>Input:</a:t>
            </a:r>
          </a:p>
          <a:p>
            <a:r>
              <a:t>• PDF files from local folder</a:t>
            </a:r>
          </a:p>
          <a:p>
            <a:r>
              <a:t>• Single PDF or batch processing</a:t>
            </a:r>
          </a:p>
          <a:p/>
          <a:p>
            <a:r>
              <a:t>Process:</a:t>
            </a:r>
          </a:p>
          <a:p>
            <a:r>
              <a:t>• PyMuPDF extracts text directly</a:t>
            </a:r>
          </a:p>
          <a:p>
            <a:r>
              <a:t>• Fast processing (no OCR)</a:t>
            </a:r>
          </a:p>
          <a:p>
            <a:r>
              <a:t>• Preserves document structure</a:t>
            </a:r>
          </a:p>
          <a:p/>
          <a:p>
            <a:r>
              <a:t>Output:</a:t>
            </a:r>
          </a:p>
          <a:p>
            <a:r>
              <a:t>• Extracted text content</a:t>
            </a:r>
          </a:p>
          <a:p>
            <a:r>
              <a:t>• Ready for chunking</a:t>
            </a:r>
          </a:p>
          <a:p/>
          <a:p>
            <a:r>
              <a:t>⚡ Speed: 10-30 seconds for 10 pages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Intelligent Text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✂️ Smart Text Segmentation</a:t>
            </a:r>
          </a:p>
          <a:p/>
          <a:p>
            <a:r>
              <a:t>Strategy:</a:t>
            </a:r>
          </a:p>
          <a:p>
            <a:r>
              <a:t>• Paragraph-based chunking</a:t>
            </a:r>
          </a:p>
          <a:p>
            <a:r>
              <a:t>• Preserves context and meaning</a:t>
            </a:r>
          </a:p>
          <a:p>
            <a:r>
              <a:t>• Configurable chunk size (default: 1000 chars)</a:t>
            </a:r>
          </a:p>
          <a:p>
            <a:r>
              <a:t>• Overlap between chunks (default: 200 chars)</a:t>
            </a:r>
          </a:p>
          <a:p/>
          <a:p>
            <a:r>
              <a:t>Benefits:</a:t>
            </a:r>
          </a:p>
          <a:p>
            <a:r>
              <a:t>• Maintains document flow</a:t>
            </a:r>
          </a:p>
          <a:p>
            <a:r>
              <a:t>• Better context preservation</a:t>
            </a:r>
          </a:p>
          <a:p>
            <a:r>
              <a:t>• Improved retrieval accuracy</a:t>
            </a:r>
          </a:p>
          <a:p/>
          <a:p>
            <a:r>
              <a:t>📊 Result:</a:t>
            </a:r>
          </a:p>
          <a:p>
            <a:r>
              <a:t>• Multiple chunks per document</a:t>
            </a:r>
          </a:p>
          <a:p>
            <a:r>
              <a:t>• Each chunk with metadata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Semantic Embedding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AI-Powered Embeddings</a:t>
            </a:r>
          </a:p>
          <a:p/>
          <a:p>
            <a:r>
              <a:t>Model: all-MiniLM-L6-v2</a:t>
            </a:r>
          </a:p>
          <a:p>
            <a:r>
              <a:t>• Pre-trained sentence transformer</a:t>
            </a:r>
          </a:p>
          <a:p>
            <a:r>
              <a:t>• 384-dimensional vectors</a:t>
            </a:r>
          </a:p>
          <a:p>
            <a:r>
              <a:t>• Captures semantic meaning</a:t>
            </a:r>
          </a:p>
          <a:p/>
          <a:p>
            <a:r>
              <a:t>Process:</a:t>
            </a:r>
          </a:p>
          <a:p>
            <a:r>
              <a:t>• Each chunk → embedding vector</a:t>
            </a:r>
          </a:p>
          <a:p>
            <a:r>
              <a:t>• Normalized for cosine similarity</a:t>
            </a:r>
          </a:p>
          <a:p>
            <a:r>
              <a:t>• Stored for fast retrieval</a:t>
            </a:r>
          </a:p>
          <a:p/>
          <a:p>
            <a:r>
              <a:t>Features:</a:t>
            </a:r>
          </a:p>
          <a:p>
            <a:r>
              <a:t>• No training required</a:t>
            </a:r>
          </a:p>
          <a:p>
            <a:r>
              <a:t>• Batch processing support</a:t>
            </a:r>
          </a:p>
          <a:p>
            <a:r>
              <a:t>• Works offline after download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Query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❓ Understanding User Questions</a:t>
            </a:r>
          </a:p>
          <a:p/>
          <a:p>
            <a:r>
              <a:t>Input:</a:t>
            </a:r>
          </a:p>
          <a:p>
            <a:r>
              <a:t>• Natural language question</a:t>
            </a:r>
          </a:p>
          <a:p>
            <a:r>
              <a:t>• Example: 'What is machine learning?'</a:t>
            </a:r>
          </a:p>
          <a:p/>
          <a:p>
            <a:r>
              <a:t>Process:</a:t>
            </a:r>
          </a:p>
          <a:p>
            <a:r>
              <a:t>• Encode question using same model</a:t>
            </a:r>
          </a:p>
          <a:p>
            <a:r>
              <a:t>• Create query embedding vector</a:t>
            </a:r>
          </a:p>
          <a:p>
            <a:r>
              <a:t>• Ready for similarity search</a:t>
            </a:r>
          </a:p>
          <a:p/>
          <a:p>
            <a:r>
              <a:t>Capabilities:</a:t>
            </a:r>
          </a:p>
          <a:p>
            <a:r>
              <a:t>• Understands question intent</a:t>
            </a:r>
          </a:p>
          <a:p>
            <a:r>
              <a:t>• Handles various question types</a:t>
            </a:r>
          </a:p>
          <a:p>
            <a:r>
              <a:t>• Supports complex queries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Step 5: Hybrid Search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164592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Semantic Search</a:t>
            </a:r>
          </a:p>
          <a:p>
            <a:r>
              <a:t>70% Weight</a:t>
            </a:r>
          </a:p>
          <a:p/>
          <a:p>
            <a:r>
              <a:t>• Cosine similarity</a:t>
            </a:r>
          </a:p>
          <a:p>
            <a:r>
              <a:t>• Understands meaning</a:t>
            </a:r>
          </a:p>
          <a:p>
            <a:r>
              <a:t>• Handles synonyms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286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645920"/>
            <a:ext cx="3474720" cy="164592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Keyword Search</a:t>
            </a:r>
          </a:p>
          <a:p>
            <a:r>
              <a:t>30% Weight</a:t>
            </a:r>
          </a:p>
          <a:p/>
          <a:p>
            <a:r>
              <a:t>• BM25 algorithm</a:t>
            </a:r>
          </a:p>
          <a:p>
            <a:r>
              <a:t>• Exact term matching</a:t>
            </a:r>
          </a:p>
          <a:p>
            <a:r>
              <a:t>• Fast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5486400" cy="91440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Combined Score = 0.7 × Semantic + 0.3 × Keyword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Answer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💡 Intelligent Answer Formatting</a:t>
            </a:r>
          </a:p>
          <a:p/>
          <a:p>
            <a:r>
              <a:t>Process:</a:t>
            </a:r>
          </a:p>
          <a:p>
            <a:r>
              <a:t>• Retrieve top-K chunks (default: 5)</a:t>
            </a:r>
          </a:p>
          <a:p>
            <a:r>
              <a:t>• Rank by combined similarity score</a:t>
            </a:r>
          </a:p>
          <a:p>
            <a:r>
              <a:t>• Sort by document and position</a:t>
            </a:r>
          </a:p>
          <a:p>
            <a:r>
              <a:t>• Format for readability</a:t>
            </a:r>
          </a:p>
          <a:p/>
          <a:p>
            <a:r>
              <a:t>Output Includes:</a:t>
            </a:r>
          </a:p>
          <a:p>
            <a:r>
              <a:t>• Main answer text</a:t>
            </a:r>
          </a:p>
          <a:p>
            <a:r>
              <a:t>• Source document names</a:t>
            </a:r>
          </a:p>
          <a:p>
            <a:r>
              <a:t>• Similarity scores</a:t>
            </a:r>
          </a:p>
          <a:p>
            <a:r>
              <a:t>• Actual PDF content excerpts</a:t>
            </a:r>
          </a:p>
          <a:p/>
          <a:p>
            <a:r>
              <a:t>✨ Result:</a:t>
            </a:r>
          </a:p>
          <a:p>
            <a:r>
              <a:t>• Clear, contextual answers</a:t>
            </a:r>
          </a:p>
          <a:p>
            <a:r>
              <a:t>• Traceable to source documents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Live Demo -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Question: 'What is artificial intelligence?'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0"/>
          </a:xfrm>
          <a:prstGeom prst="rect">
            <a:avLst/>
          </a:prstGeom>
          <a:noFill/>
          <a:ln w="25400">
            <a:solidFill>
              <a:srgbClr val="2980B9"/>
            </a:solidFill>
          </a:ln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[SCREENSHOT]</a:t>
            </a:r>
          </a:p>
          <a:p/>
          <a:p>
            <a:r>
              <a:t>📸 Screenshot: Full query interface showing</a:t>
            </a:r>
          </a:p>
          <a:p>
            <a:r>
              <a:t>• Question in input box</a:t>
            </a:r>
          </a:p>
          <a:p>
            <a:r>
              <a:t>• Generated answer below</a:t>
            </a:r>
          </a:p>
          <a:p>
            <a:r>
              <a:t>• Multiple relevant chunks</a:t>
            </a:r>
          </a:p>
          <a:p>
            <a:r>
              <a:t>• High similarity scores (0.88, 0.85)</a:t>
            </a:r>
          </a:p>
          <a:p>
            <a:r>
              <a:t>• Source: document.pdf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Live Demo -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Question: 'How does the system process documents?'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0"/>
          </a:xfrm>
          <a:prstGeom prst="rect">
            <a:avLst/>
          </a:prstGeom>
          <a:noFill/>
          <a:ln w="25400">
            <a:solidFill>
              <a:srgbClr val="2980B9"/>
            </a:solidFill>
          </a:ln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[SCREENSHOT]</a:t>
            </a:r>
          </a:p>
          <a:p/>
          <a:p>
            <a:r>
              <a:t>📸 Screenshot: Different query example</a:t>
            </a:r>
          </a:p>
          <a:p>
            <a:r>
              <a:t>• Process-related question</a:t>
            </a:r>
          </a:p>
          <a:p>
            <a:r>
              <a:t>• Technical answer retrieved</a:t>
            </a:r>
          </a:p>
          <a:p>
            <a:r>
              <a:t>• Multiple source documents</a:t>
            </a:r>
          </a:p>
          <a:p>
            <a:r>
              <a:t>• Detailed explanation chunks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109728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85-95%</a:t>
            </a:r>
          </a:p>
          <a:p>
            <a:pPr algn="ctr">
              <a:defRPr sz="1800"/>
            </a:pPr>
            <a: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2286000" cy="109728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&lt; 5 sec</a:t>
            </a:r>
          </a:p>
          <a:p>
            <a:pPr algn="ctr">
              <a:defRPr sz="1800"/>
            </a:pPr>
            <a:r>
              <a:t>Query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2286000" cy="109728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100+</a:t>
            </a:r>
          </a:p>
          <a:p>
            <a:pPr algn="ctr">
              <a:defRPr sz="1800"/>
            </a:pPr>
            <a:r>
              <a:t>PDFs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286000" cy="109728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384</a:t>
            </a:r>
          </a:p>
          <a:p>
            <a:pPr algn="ctr">
              <a:defRPr sz="1800"/>
            </a:pPr>
            <a:r>
              <a:t>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840480"/>
            <a:ext cx="2286000" cy="109728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70/30</a:t>
            </a:r>
          </a:p>
          <a:p>
            <a:pPr algn="ctr">
              <a:defRPr sz="1800"/>
            </a:pPr>
            <a:r>
              <a:t>Search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2286000" cy="109728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Offline</a:t>
            </a:r>
          </a:p>
          <a:p>
            <a:pPr algn="ctr">
              <a:defRPr sz="1800"/>
            </a:pPr>
            <a:r>
              <a:t>Mode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Real-World Applications</a:t>
            </a:r>
          </a:p>
          <a:p/>
          <a:p>
            <a:r>
              <a:t>📚 Research &amp; Academia</a:t>
            </a:r>
          </a:p>
          <a:p>
            <a:r>
              <a:t>• Search through research papers</a:t>
            </a:r>
          </a:p>
          <a:p>
            <a:r>
              <a:t>• Find specific methodologies</a:t>
            </a:r>
          </a:p>
          <a:p>
            <a:r>
              <a:t>• Extract key findings</a:t>
            </a:r>
          </a:p>
          <a:p/>
          <a:p>
            <a:r>
              <a:t>💼 Business &amp; Enterprise</a:t>
            </a:r>
          </a:p>
          <a:p>
            <a:r>
              <a:t>• Company policy documents</a:t>
            </a:r>
          </a:p>
          <a:p>
            <a:r>
              <a:t>• Technical documentation</a:t>
            </a:r>
          </a:p>
          <a:p>
            <a:r>
              <a:t>• Training materials</a:t>
            </a:r>
          </a:p>
          <a:p/>
          <a:p>
            <a:r>
              <a:t>📖 Education</a:t>
            </a:r>
          </a:p>
          <a:p>
            <a:r>
              <a:t>• Textbook question answering</a:t>
            </a:r>
          </a:p>
          <a:p>
            <a:r>
              <a:t>• Study material search</a:t>
            </a:r>
          </a:p>
          <a:p>
            <a:r>
              <a:t>• Course content retrieval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194560" cy="118872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No Training</a:t>
            </a:r>
          </a:p>
          <a:p>
            <a:pPr algn="ctr">
              <a:defRPr sz="1400"/>
            </a:pPr>
            <a:r>
              <a:t>Pre-trained models</a:t>
            </a:r>
          </a:p>
          <a:p>
            <a:r>
              <a:t>Ready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2194560" cy="118872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Fast</a:t>
            </a:r>
          </a:p>
          <a:p>
            <a:pPr algn="ctr">
              <a:defRPr sz="1400"/>
            </a:pPr>
            <a:r>
              <a:t>Seconds not minutes</a:t>
            </a:r>
          </a:p>
          <a:p>
            <a:r>
              <a:t>Efficient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194560" cy="11887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Private</a:t>
            </a:r>
          </a:p>
          <a:p>
            <a:pPr algn="ctr">
              <a:defRPr sz="1400"/>
            </a:pPr>
            <a:r>
              <a:t>All data local</a:t>
            </a:r>
          </a:p>
          <a:p>
            <a:r>
              <a:t>No cloud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194560" cy="118872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Accurate</a:t>
            </a:r>
          </a:p>
          <a:p>
            <a:pPr algn="ctr">
              <a:defRPr sz="1400"/>
            </a:pPr>
            <a:r>
              <a:t>80-95% accuracy</a:t>
            </a:r>
          </a:p>
          <a:p>
            <a:r>
              <a:t>Hybrid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2194560" cy="118872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Easy</a:t>
            </a:r>
          </a:p>
          <a:p>
            <a:pPr algn="ctr">
              <a:defRPr sz="1400"/>
            </a:pPr>
            <a:r>
              <a:t>Simple interface</a:t>
            </a:r>
          </a:p>
          <a:p>
            <a:r>
              <a:t>No expertise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474720"/>
            <a:ext cx="2194560" cy="118872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Scalable</a:t>
            </a:r>
          </a:p>
          <a:p>
            <a:pPr algn="ctr">
              <a:defRPr sz="1400"/>
            </a:pPr>
            <a:r>
              <a:t>Handles 100+ PDFs</a:t>
            </a:r>
          </a:p>
          <a:p>
            <a:r>
              <a:t>Efficient storage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🔧 Advanced Technologies</a:t>
            </a:r>
          </a:p>
          <a:p/>
          <a:p>
            <a:r>
              <a:t>🤖 AI Models:</a:t>
            </a:r>
          </a:p>
          <a:p>
            <a:r>
              <a:t>• Sentence Transformers (all-MiniLM-L6-v2)</a:t>
            </a:r>
          </a:p>
          <a:p>
            <a:r>
              <a:t>• 384-dimensional semantic embeddings</a:t>
            </a:r>
          </a:p>
          <a:p>
            <a:r>
              <a:t>• Optional LSTM for enhanced matching</a:t>
            </a:r>
          </a:p>
          <a:p/>
          <a:p>
            <a:r>
              <a:t>🔍 Search Algorithms:</a:t>
            </a:r>
          </a:p>
          <a:p>
            <a:r>
              <a:t>• Cosine similarity (semantic search)</a:t>
            </a:r>
          </a:p>
          <a:p>
            <a:r>
              <a:t>• BM25 ranking (keyword search)</a:t>
            </a:r>
          </a:p>
          <a:p>
            <a:r>
              <a:t>• Weighted hybrid combination</a:t>
            </a:r>
          </a:p>
          <a:p/>
          <a:p>
            <a:r>
              <a:t>📊 Processing:</a:t>
            </a:r>
          </a:p>
          <a:p>
            <a:r>
              <a:t>• PyMuPDF for fast text extraction</a:t>
            </a:r>
          </a:p>
          <a:p>
            <a:r>
              <a:t>• Batch embedding generation</a:t>
            </a:r>
          </a:p>
          <a:p>
            <a:r>
              <a:t>• Efficient similarity computation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Quick Installation (3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1097280" cy="1097280"/>
          </a:xfrm>
          <a:prstGeom prst="ellipse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/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Install</a:t>
            </a:r>
          </a:p>
          <a:p>
            <a:r>
              <a:t>Dependencies</a:t>
            </a:r>
          </a:p>
        </p:txBody>
      </p:sp>
      <p:sp>
        <p:nvSpPr>
          <p:cNvPr id="6" name="Oval 5"/>
          <p:cNvSpPr/>
          <p:nvPr/>
        </p:nvSpPr>
        <p:spPr>
          <a:xfrm>
            <a:off x="4114800" y="1828800"/>
            <a:ext cx="1097280" cy="109728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017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Process</a:t>
            </a:r>
          </a:p>
          <a:p>
            <a:r>
              <a:t>PDFs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097280" cy="109728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/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017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Start</a:t>
            </a:r>
          </a:p>
          <a:p>
            <a:r>
              <a:t>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1463040" cy="731520"/>
          </a:xfrm>
          <a:prstGeom prst="rect">
            <a:avLst/>
          </a:prstGeom>
          <a:solidFill>
            <a:srgbClr val="ECF0F1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pip install -r</a:t>
            </a:r>
          </a:p>
          <a:p>
            <a:r>
              <a:t>requirements_new.txt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657600"/>
            <a:ext cx="1463040" cy="731520"/>
          </a:xfrm>
          <a:prstGeom prst="rect">
            <a:avLst/>
          </a:prstGeom>
          <a:solidFill>
            <a:srgbClr val="ECF0F1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python train_model.py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1463040" cy="731520"/>
          </a:xfrm>
          <a:prstGeom prst="rect">
            <a:avLst/>
          </a:prstGeom>
          <a:solidFill>
            <a:srgbClr val="ECF0F1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streamlit run</a:t>
            </a:r>
          </a:p>
          <a:p>
            <a:r>
              <a:t>app_new.py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Comparison with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182880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Basic</a:t>
            </a:r>
          </a:p>
          <a:p>
            <a:pPr algn="ctr">
              <a:defRPr sz="1400"/>
            </a:pPr>
            <a:r>
              <a:t>Search</a:t>
            </a:r>
          </a:p>
          <a:p>
            <a:r>
              <a:t>❌ Keywords only</a:t>
            </a:r>
          </a:p>
          <a:p>
            <a:r>
              <a:t>❌ No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2286000" cy="182880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Cloud</a:t>
            </a:r>
          </a:p>
          <a:p>
            <a:pPr algn="ctr">
              <a:defRPr sz="1400"/>
            </a:pPr>
            <a:r>
              <a:t>Solutions</a:t>
            </a:r>
          </a:p>
          <a:p>
            <a:r>
              <a:t>❌ Privacy concerns</a:t>
            </a:r>
          </a:p>
          <a:p>
            <a:r>
              <a:t>❌ Subscription fees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2286000" cy="182880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Our</a:t>
            </a:r>
          </a:p>
          <a:p>
            <a:pPr algn="ctr">
              <a:defRPr sz="1400"/>
            </a:pPr>
            <a:r>
              <a:t>Solution</a:t>
            </a:r>
          </a:p>
          <a:p>
            <a:r>
              <a:t>✅ Semantic + Keyword</a:t>
            </a:r>
          </a:p>
          <a:p>
            <a:r>
              <a:t>✅ Local &amp; Private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Complete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" cy="64008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1097280" cy="64008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1097280" cy="64008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Chunk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1097280" cy="64008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1097280" cy="64008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1097280" cy="64008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1097280" cy="64008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1097280" cy="64008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688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4688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System Performance Summary</a:t>
            </a:r>
          </a:p>
          <a:p/>
          <a:p>
            <a:r>
              <a:t>⚡ Speed:</a:t>
            </a:r>
          </a:p>
          <a:p>
            <a:r>
              <a:t>• Small PDFs (10 pages): 10-30 seconds</a:t>
            </a:r>
          </a:p>
          <a:p>
            <a:r>
              <a:t>• Medium PDFs (100 pages): 1-2 minutes</a:t>
            </a:r>
          </a:p>
          <a:p>
            <a:r>
              <a:t>• Query response: &lt; 5 seconds</a:t>
            </a:r>
          </a:p>
          <a:p/>
          <a:p>
            <a:r>
              <a:t>🎯 Accuracy:</a:t>
            </a:r>
          </a:p>
          <a:p>
            <a:r>
              <a:t>• Top-1 accuracy: 70-85%</a:t>
            </a:r>
          </a:p>
          <a:p>
            <a:r>
              <a:t>• Top-5 accuracy: 85-95%</a:t>
            </a:r>
          </a:p>
          <a:p>
            <a:r>
              <a:t>• Hybrid search improves results by 10-15%</a:t>
            </a:r>
          </a:p>
          <a:p/>
          <a:p>
            <a:r>
              <a:t>💾 Resources:</a:t>
            </a:r>
          </a:p>
          <a:p>
            <a:r>
              <a:t>• Memory: ~200-300 MB base</a:t>
            </a:r>
          </a:p>
          <a:p>
            <a:r>
              <a:t>• Storage: ~80MB for models</a:t>
            </a:r>
          </a:p>
          <a:p>
            <a:r>
              <a:t>• Scalable to 10,000+ chunks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🔮 Roadmap</a:t>
            </a:r>
          </a:p>
          <a:p/>
          <a:p>
            <a:r>
              <a:t>Short-term:</a:t>
            </a:r>
          </a:p>
          <a:p>
            <a:r>
              <a:t>• OCR support for scanned PDFs</a:t>
            </a:r>
          </a:p>
          <a:p>
            <a:r>
              <a:t>• Query result caching</a:t>
            </a:r>
          </a:p>
          <a:p>
            <a:r>
              <a:t>• Performance optimizations</a:t>
            </a:r>
          </a:p>
          <a:p/>
          <a:p>
            <a:r>
              <a:t>Medium-term:</a:t>
            </a:r>
          </a:p>
          <a:p>
            <a:r>
              <a:t>• Multi-language support</a:t>
            </a:r>
          </a:p>
          <a:p>
            <a:r>
              <a:t>• Advanced query expansion</a:t>
            </a:r>
          </a:p>
          <a:p>
            <a:r>
              <a:t>• Result re-ranking</a:t>
            </a:r>
          </a:p>
          <a:p/>
          <a:p>
            <a:r>
              <a:t>Long-term:</a:t>
            </a:r>
          </a:p>
          <a:p>
            <a:r>
              <a:t>• Vector database integration</a:t>
            </a:r>
          </a:p>
          <a:p>
            <a:r>
              <a:t>• Distributed processing</a:t>
            </a:r>
          </a:p>
          <a:p>
            <a:r>
              <a:t>• Mobile app version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109728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Intelligent</a:t>
            </a:r>
          </a:p>
          <a:p>
            <a:pPr algn="ctr">
              <a:defRPr sz="1600"/>
            </a:pPr>
            <a:r>
              <a:t>AI-powered</a:t>
            </a:r>
          </a:p>
          <a:p>
            <a:r>
              <a:t>question answering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2286000" cy="1097280"/>
          </a:xfrm>
          <a:prstGeom prst="rect">
            <a:avLst/>
          </a:prstGeom>
          <a:solidFill>
            <a:srgbClr val="3498DB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Fast</a:t>
            </a:r>
          </a:p>
          <a:p>
            <a:pPr algn="ctr">
              <a:defRPr sz="1600"/>
            </a:pPr>
            <a:r>
              <a:t>Seconds not</a:t>
            </a:r>
          </a:p>
          <a:p>
            <a:r>
              <a:t>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2286000" cy="1097280"/>
          </a:xfrm>
          <a:prstGeom prst="rect">
            <a:avLst/>
          </a:prstGeom>
          <a:solidFill>
            <a:srgbClr val="2ECC71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Accurate</a:t>
            </a:r>
          </a:p>
          <a:p>
            <a:pPr algn="ctr">
              <a:defRPr sz="1600"/>
            </a:pPr>
            <a:r>
              <a:t>80-95%</a:t>
            </a:r>
          </a:p>
          <a:p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286000" cy="109728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Easy</a:t>
            </a:r>
          </a:p>
          <a:p>
            <a:pPr algn="ctr">
              <a:defRPr sz="1600"/>
            </a:pPr>
            <a:r>
              <a:t>Simple web</a:t>
            </a:r>
          </a:p>
          <a:p>
            <a: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840480"/>
            <a:ext cx="2286000" cy="1097280"/>
          </a:xfrm>
          <a:prstGeom prst="rect">
            <a:avLst/>
          </a:prstGeom>
          <a:solidFill>
            <a:srgbClr val="F1C40F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Private</a:t>
            </a:r>
          </a:p>
          <a:p>
            <a:pPr algn="ctr">
              <a:defRPr sz="1600"/>
            </a:pPr>
            <a:r>
              <a:t>All data</a:t>
            </a:r>
          </a:p>
          <a:p>
            <a: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2286000" cy="109728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Scalable</a:t>
            </a:r>
          </a:p>
          <a:p>
            <a:pPr algn="ctr">
              <a:defRPr sz="1600"/>
            </a:pPr>
            <a:r>
              <a:t>100+ PDFs</a:t>
            </a:r>
          </a:p>
          <a:p>
            <a:r>
              <a:t>supported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  <a:p/>
          <a:p>
            <a:r>
              <a:t>📧 Contact: [Your Email]</a:t>
            </a:r>
          </a:p>
          <a:p>
            <a:r>
              <a:t>🌐 Repository: [GitHub URL]</a:t>
            </a:r>
          </a:p>
          <a:p>
            <a:r>
              <a:t>📚 Documentation: Available in project folder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5029200"/>
            <a:ext cx="914400" cy="91440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5029200"/>
            <a:ext cx="914400" cy="914400"/>
          </a:xfrm>
          <a:prstGeom prst="ellipse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5029200"/>
            <a:ext cx="914400" cy="9144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